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3"/>
  </p:notesMasterIdLst>
  <p:sldIdLst>
    <p:sldId id="257" r:id="rId2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1" d="100"/>
          <a:sy n="11" d="100"/>
        </p:scale>
        <p:origin x="23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684B5D3-7C38-429D-93CD-1A4F3C8B58B6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1143000"/>
            <a:ext cx="215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3EF9B88-3E88-45ED-A927-A8EC127A7AB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6658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2937510" rtl="1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1pPr>
    <a:lvl2pPr marL="1468755" algn="r" defTabSz="2937510" rtl="1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2pPr>
    <a:lvl3pPr marL="2937510" algn="r" defTabSz="2937510" rtl="1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3pPr>
    <a:lvl4pPr marL="4406265" algn="r" defTabSz="2937510" rtl="1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4pPr>
    <a:lvl5pPr marL="5875020" algn="r" defTabSz="2937510" rtl="1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5pPr>
    <a:lvl6pPr marL="7343775" algn="r" defTabSz="2937510" rtl="1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6pPr>
    <a:lvl7pPr marL="8812530" algn="r" defTabSz="2937510" rtl="1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7pPr>
    <a:lvl8pPr marL="10281285" algn="r" defTabSz="2937510" rtl="1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8pPr>
    <a:lvl9pPr marL="11750040" algn="r" defTabSz="2937510" rtl="1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728C8-81A6-4733-91AB-6E9EBED62EA0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18275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F34A5-FE0C-46D6-8BB0-09DD9FCB7274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3153-88F5-477A-8BE7-F8D17BA63DF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533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F34A5-FE0C-46D6-8BB0-09DD9FCB7274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3153-88F5-477A-8BE7-F8D17BA63DF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86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F34A5-FE0C-46D6-8BB0-09DD9FCB7274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3153-88F5-477A-8BE7-F8D17BA63DF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2078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F34A5-FE0C-46D6-8BB0-09DD9FCB7274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3153-88F5-477A-8BE7-F8D17BA63DF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2634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F34A5-FE0C-46D6-8BB0-09DD9FCB7274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3153-88F5-477A-8BE7-F8D17BA63DF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4862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F34A5-FE0C-46D6-8BB0-09DD9FCB7274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3153-88F5-477A-8BE7-F8D17BA63DF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644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F34A5-FE0C-46D6-8BB0-09DD9FCB7274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3153-88F5-477A-8BE7-F8D17BA63DF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9518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F34A5-FE0C-46D6-8BB0-09DD9FCB7274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3153-88F5-477A-8BE7-F8D17BA63DF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655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F34A5-FE0C-46D6-8BB0-09DD9FCB7274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3153-88F5-477A-8BE7-F8D17BA63DF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6011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F34A5-FE0C-46D6-8BB0-09DD9FCB7274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3153-88F5-477A-8BE7-F8D17BA63DF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097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F34A5-FE0C-46D6-8BB0-09DD9FCB7274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3153-88F5-477A-8BE7-F8D17BA63DF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2599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5F34A5-FE0C-46D6-8BB0-09DD9FCB7274}" type="datetimeFigureOut">
              <a:rPr lang="he-IL" smtClean="0"/>
              <a:t>י"א/סיון/תשפ"ו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D33153-88F5-477A-8BE7-F8D17BA63DF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276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19995" rtl="1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r" defTabSz="2519995" rtl="1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r" defTabSz="2519995" rtl="1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r" defTabSz="2519995" rtl="1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r" defTabSz="2519995" rtl="1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r" defTabSz="2519995" rtl="1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r" defTabSz="2519995" rtl="1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r" defTabSz="2519995" rtl="1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r" defTabSz="2519995" rtl="1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r" defTabSz="2519995" rtl="1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2519995" rtl="1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r" defTabSz="2519995" rtl="1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r" defTabSz="2519995" rtl="1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r" defTabSz="2519995" rtl="1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r" defTabSz="2519995" rtl="1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r" defTabSz="2519995" rtl="1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r" defTabSz="2519995" rtl="1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r" defTabSz="2519995" rtl="1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r" defTabSz="2519995" rtl="1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מלבן: פינות מעוגלות 23">
            <a:extLst>
              <a:ext uri="{FF2B5EF4-FFF2-40B4-BE49-F238E27FC236}">
                <a16:creationId xmlns:a16="http://schemas.microsoft.com/office/drawing/2014/main" id="{5A623E58-2D4C-4D2E-3093-A698E2EE0DD9}"/>
              </a:ext>
            </a:extLst>
          </p:cNvPr>
          <p:cNvSpPr/>
          <p:nvPr/>
        </p:nvSpPr>
        <p:spPr>
          <a:xfrm>
            <a:off x="558800" y="21541258"/>
            <a:ext cx="23806968" cy="8139251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7" name="מלבן 36">
            <a:extLst>
              <a:ext uri="{FF2B5EF4-FFF2-40B4-BE49-F238E27FC236}">
                <a16:creationId xmlns:a16="http://schemas.microsoft.com/office/drawing/2014/main" id="{15136B6A-6003-DFA3-DDC0-EC9C7A7AC8DD}"/>
              </a:ext>
            </a:extLst>
          </p:cNvPr>
          <p:cNvSpPr/>
          <p:nvPr/>
        </p:nvSpPr>
        <p:spPr>
          <a:xfrm>
            <a:off x="1548047" y="26308309"/>
            <a:ext cx="22206898" cy="256333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87A2C9F3-7E6D-5D3E-1C6F-90641065962D}"/>
              </a:ext>
            </a:extLst>
          </p:cNvPr>
          <p:cNvSpPr/>
          <p:nvPr/>
        </p:nvSpPr>
        <p:spPr>
          <a:xfrm>
            <a:off x="558800" y="5485871"/>
            <a:ext cx="11607800" cy="6953080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4F4BD83C-6BE9-61EF-E3E9-21B2C6FDCD8A}"/>
              </a:ext>
            </a:extLst>
          </p:cNvPr>
          <p:cNvSpPr txBox="1"/>
          <p:nvPr/>
        </p:nvSpPr>
        <p:spPr>
          <a:xfrm>
            <a:off x="3928665" y="428221"/>
            <a:ext cx="17647446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8800" b="1" dirty="0"/>
              <a:t>Phishing Email Detection System</a:t>
            </a:r>
            <a:r>
              <a:rPr lang="en-US" sz="8800" dirty="0"/>
              <a:t> </a:t>
            </a:r>
            <a:endParaRPr lang="he-IL" sz="8000" b="1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CAC67114-DADA-ABCB-359F-B5DDC4DFB3FF}"/>
              </a:ext>
            </a:extLst>
          </p:cNvPr>
          <p:cNvSpPr/>
          <p:nvPr/>
        </p:nvSpPr>
        <p:spPr>
          <a:xfrm flipV="1">
            <a:off x="9775301" y="1822395"/>
            <a:ext cx="6179596" cy="4571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7811C783-1F72-7D49-1BFA-71B8D54D2349}"/>
              </a:ext>
            </a:extLst>
          </p:cNvPr>
          <p:cNvSpPr txBox="1"/>
          <p:nvPr/>
        </p:nvSpPr>
        <p:spPr>
          <a:xfrm>
            <a:off x="5018183" y="2210661"/>
            <a:ext cx="15693832" cy="29546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en-US" sz="5200" dirty="0"/>
              <a:t>Students: Amit Mitzmacher, Tal Mitzmacher</a:t>
            </a:r>
            <a:endParaRPr lang="he-IL" sz="5200" dirty="0"/>
          </a:p>
          <a:p>
            <a:pPr lvl="0" algn="ctr" defTabSz="2519995">
              <a:defRPr/>
            </a:pPr>
            <a:r>
              <a:rPr lang="en-US" sz="5200" dirty="0"/>
              <a:t>Lecturer: Viacheslav  </a:t>
            </a:r>
            <a:r>
              <a:rPr lang="en-US" sz="5200" dirty="0" err="1"/>
              <a:t>nefedov</a:t>
            </a:r>
            <a:endParaRPr lang="en-US" sz="5200" dirty="0"/>
          </a:p>
          <a:p>
            <a:pPr lvl="0" algn="ctr" defTabSz="2519995">
              <a:defRPr/>
            </a:pPr>
            <a:r>
              <a:rPr lang="en-US" sz="3800" dirty="0"/>
              <a:t>Course Name: </a:t>
            </a:r>
            <a:r>
              <a:rPr lang="en-US" sz="4000" dirty="0"/>
              <a:t>AI-Driven Cybersecurity</a:t>
            </a:r>
            <a:endParaRPr lang="en-GB" sz="4000" dirty="0"/>
          </a:p>
          <a:p>
            <a:pPr algn="ctr"/>
            <a:r>
              <a:rPr lang="en-US" sz="4000" dirty="0"/>
              <a:t>Year and semester: 2026, Semester B</a:t>
            </a:r>
            <a:endParaRPr lang="en-US" sz="3800" dirty="0"/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90ABE35C-488C-338D-B974-AE31C0C8CBA3}"/>
              </a:ext>
            </a:extLst>
          </p:cNvPr>
          <p:cNvSpPr txBox="1"/>
          <p:nvPr/>
        </p:nvSpPr>
        <p:spPr>
          <a:xfrm>
            <a:off x="913429" y="5924880"/>
            <a:ext cx="10925645" cy="63094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5200" b="1" u="sng" dirty="0">
                <a:solidFill>
                  <a:schemeClr val="accent1"/>
                </a:solidFill>
              </a:rPr>
              <a:t>Introduction &amp; Objectives</a:t>
            </a:r>
          </a:p>
          <a:p>
            <a:endParaRPr lang="en-US" sz="3200" dirty="0"/>
          </a:p>
          <a:p>
            <a:r>
              <a:rPr lang="en-US" sz="3200" dirty="0"/>
              <a:t>Modern phishing attacks use </a:t>
            </a:r>
            <a:r>
              <a:rPr lang="en-US" sz="3200" b="1" dirty="0"/>
              <a:t>"semantic camouflage“</a:t>
            </a:r>
            <a:r>
              <a:rPr lang="en-US" sz="3200" dirty="0"/>
              <a:t> -polite, professional language designed to bypass traditional signature or rule-based security filters.</a:t>
            </a:r>
          </a:p>
          <a:p>
            <a:endParaRPr lang="en-US" sz="3200" dirty="0"/>
          </a:p>
          <a:p>
            <a:r>
              <a:rPr lang="en-US" sz="3200" b="1" dirty="0"/>
              <a:t>Primary Project Objectives: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Build an optimized ML pipeline to analyze live email traffic.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Detect subtle text patterns and hidden semantic anomalies.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Map threats to the </a:t>
            </a:r>
            <a:r>
              <a:rPr lang="en-US" sz="3200" b="1" dirty="0"/>
              <a:t>MITRE ATT&amp;CK</a:t>
            </a:r>
            <a:r>
              <a:rPr lang="en-US" sz="3200" dirty="0"/>
              <a:t> framework for faster SOC response.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779C7E99-E51C-DBB9-A5A3-DC44BACC27A6}"/>
              </a:ext>
            </a:extLst>
          </p:cNvPr>
          <p:cNvSpPr/>
          <p:nvPr/>
        </p:nvSpPr>
        <p:spPr>
          <a:xfrm>
            <a:off x="12757968" y="5485871"/>
            <a:ext cx="11607800" cy="6953081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AC6F2656-351B-5E04-2232-DFD7DA731094}"/>
              </a:ext>
            </a:extLst>
          </p:cNvPr>
          <p:cNvSpPr txBox="1"/>
          <p:nvPr/>
        </p:nvSpPr>
        <p:spPr>
          <a:xfrm>
            <a:off x="13111260" y="5975680"/>
            <a:ext cx="10997486" cy="63094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5200" b="1" u="sng" dirty="0">
                <a:solidFill>
                  <a:schemeClr val="accent1"/>
                </a:solidFill>
              </a:rPr>
              <a:t>Methodology &amp; System Architecture</a:t>
            </a:r>
          </a:p>
          <a:p>
            <a:br>
              <a:rPr lang="en-US" sz="3200" dirty="0"/>
            </a:br>
            <a:r>
              <a:rPr lang="en-US" sz="3200" dirty="0"/>
              <a:t>The pipeline combines text preprocessing with a parallelized statistical ensemble model: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Vectorization:</a:t>
            </a:r>
            <a:r>
              <a:rPr lang="en-US" sz="3200" dirty="0"/>
              <a:t> </a:t>
            </a:r>
            <a:r>
              <a:rPr lang="en-US" sz="3200" b="1" dirty="0"/>
              <a:t>TF-IDF</a:t>
            </a:r>
            <a:r>
              <a:rPr lang="en-US" sz="3200" dirty="0"/>
              <a:t> limited to the top 5,000 features, filtering out English stop words to reduce noise.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Classifier:</a:t>
            </a:r>
            <a:r>
              <a:rPr lang="en-US" sz="3200" dirty="0"/>
              <a:t> </a:t>
            </a:r>
            <a:r>
              <a:rPr lang="en-US" sz="3200" b="1" dirty="0"/>
              <a:t>Random Forest </a:t>
            </a:r>
            <a:r>
              <a:rPr lang="en-US" sz="3200" dirty="0"/>
              <a:t>Classifier for faster parallelized training and inference.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Logging:</a:t>
            </a:r>
            <a:r>
              <a:rPr lang="en-US" sz="3200" dirty="0"/>
              <a:t> Writes all streaming evaluation data directly file for easy monitoring and integration.</a:t>
            </a:r>
          </a:p>
          <a:p>
            <a:endParaRPr lang="en-US" sz="3200" dirty="0"/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4F8FD5A0-0467-A0CA-A1E7-29D55EACB88F}"/>
              </a:ext>
            </a:extLst>
          </p:cNvPr>
          <p:cNvSpPr/>
          <p:nvPr/>
        </p:nvSpPr>
        <p:spPr>
          <a:xfrm>
            <a:off x="558800" y="12822695"/>
            <a:ext cx="11607800" cy="8308659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CAB1A9A1-903E-32B7-5466-7C299C04D4F4}"/>
              </a:ext>
            </a:extLst>
          </p:cNvPr>
          <p:cNvSpPr txBox="1"/>
          <p:nvPr/>
        </p:nvSpPr>
        <p:spPr>
          <a:xfrm>
            <a:off x="1089892" y="13403835"/>
            <a:ext cx="10644908" cy="680186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5200" b="1" u="sng" dirty="0">
                <a:solidFill>
                  <a:schemeClr val="accent1"/>
                </a:solidFill>
              </a:rPr>
              <a:t>Dataset &amp; Class Distribution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To eliminate model bias toward a majority class</a:t>
            </a:r>
            <a:r>
              <a:rPr lang="he-IL" sz="3200" dirty="0"/>
              <a:t>,</a:t>
            </a:r>
            <a:r>
              <a:rPr lang="en-US" sz="3200" dirty="0"/>
              <a:t> we leveraged a perfectly balanced dataset consisting of </a:t>
            </a:r>
            <a:r>
              <a:rPr lang="en-US" sz="3200" b="1" dirty="0"/>
              <a:t>82,486 email instances</a:t>
            </a:r>
            <a:r>
              <a:rPr lang="en-US" sz="32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Distribution:</a:t>
            </a:r>
            <a:r>
              <a:rPr lang="en-US" sz="3200" dirty="0"/>
              <a:t> 50% benign corporate emails and 50% active phishing threats.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Data Splitting:</a:t>
            </a:r>
            <a:r>
              <a:rPr lang="en-US" sz="3200" dirty="0"/>
              <a:t> An 80/20 train-test ratio was utilized, allotting 65,988 samples for model fitting.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Holdout Set:</a:t>
            </a:r>
            <a:r>
              <a:rPr lang="en-US" sz="3200" dirty="0"/>
              <a:t> 20% (16,498 samples) was strictly isolated to perform objective final verification.</a:t>
            </a:r>
          </a:p>
          <a:p>
            <a:endParaRPr lang="en-US" sz="3200" dirty="0"/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B46EAF31-6866-8D86-EC1D-7939B4A42FC9}"/>
              </a:ext>
            </a:extLst>
          </p:cNvPr>
          <p:cNvSpPr/>
          <p:nvPr/>
        </p:nvSpPr>
        <p:spPr>
          <a:xfrm>
            <a:off x="12865099" y="12822695"/>
            <a:ext cx="11607800" cy="8308659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2D021BE8-AD57-EBF4-A032-841BC53CA2AE}"/>
              </a:ext>
            </a:extLst>
          </p:cNvPr>
          <p:cNvSpPr txBox="1"/>
          <p:nvPr/>
        </p:nvSpPr>
        <p:spPr>
          <a:xfrm>
            <a:off x="13289060" y="13187439"/>
            <a:ext cx="10644908" cy="778674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5200" b="1" u="sng" dirty="0">
                <a:solidFill>
                  <a:schemeClr val="accent1"/>
                </a:solidFill>
              </a:rPr>
              <a:t>System Performance Evaluation</a:t>
            </a:r>
          </a:p>
          <a:p>
            <a:endParaRPr lang="en-US" sz="3200" dirty="0"/>
          </a:p>
          <a:p>
            <a:r>
              <a:rPr lang="en-US" sz="3200" dirty="0"/>
              <a:t>Validating the system against the 16,498 unexposed testing samples revealed extreme metric parity: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Safe Traffic (Class 0):</a:t>
            </a:r>
            <a:r>
              <a:rPr lang="en-US" sz="3200" dirty="0"/>
              <a:t> Precision: 0.99 | Recall: 0.99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Phishing Threats (Class 1):</a:t>
            </a:r>
            <a:r>
              <a:rPr lang="en-US" sz="3200" dirty="0"/>
              <a:t> Precision: 0.99 | Recall: 0.99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Confusion Matrix:</a:t>
            </a:r>
            <a:r>
              <a:rPr lang="en-US" sz="3200" dirty="0"/>
              <a:t> 8,452 attacks successfully blocked, with only 108 false alarms (FP) and 111 misses (FN).</a:t>
            </a:r>
          </a:p>
          <a:p>
            <a:endParaRPr lang="en-US" sz="3200" dirty="0"/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8780AFDE-5B22-0119-14FA-C0BD43FE553F}"/>
              </a:ext>
            </a:extLst>
          </p:cNvPr>
          <p:cNvSpPr/>
          <p:nvPr/>
        </p:nvSpPr>
        <p:spPr>
          <a:xfrm>
            <a:off x="1548047" y="24025073"/>
            <a:ext cx="22206897" cy="205051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תיבת טקסט 26">
            <a:extLst>
              <a:ext uri="{FF2B5EF4-FFF2-40B4-BE49-F238E27FC236}">
                <a16:creationId xmlns:a16="http://schemas.microsoft.com/office/drawing/2014/main" id="{26F3EBBB-85DB-8B3B-9C29-89CAFDC716EF}"/>
              </a:ext>
            </a:extLst>
          </p:cNvPr>
          <p:cNvSpPr txBox="1"/>
          <p:nvPr/>
        </p:nvSpPr>
        <p:spPr>
          <a:xfrm>
            <a:off x="1649127" y="22005668"/>
            <a:ext cx="22744785" cy="680186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5200" b="1" u="sng" dirty="0">
                <a:solidFill>
                  <a:schemeClr val="accent1"/>
                </a:solidFill>
              </a:rPr>
              <a:t>Live Traffic Simulation Insights</a:t>
            </a:r>
          </a:p>
          <a:p>
            <a:endParaRPr lang="en-US" sz="3200" dirty="0"/>
          </a:p>
          <a:p>
            <a:r>
              <a:rPr lang="en-US" sz="3200" dirty="0"/>
              <a:t>The model successfully processed the key adversarial test cases:</a:t>
            </a:r>
          </a:p>
          <a:p>
            <a:endParaRPr lang="en-US" sz="3200" dirty="0"/>
          </a:p>
          <a:p>
            <a:r>
              <a:rPr lang="en-US" sz="3200" dirty="0"/>
              <a:t>Test Case A - Routine Workplace Email</a:t>
            </a:r>
          </a:p>
          <a:p>
            <a:r>
              <a:rPr lang="en-US" sz="2800" i="1" dirty="0">
                <a:solidFill>
                  <a:schemeClr val="bg1">
                    <a:lumMod val="50000"/>
                  </a:schemeClr>
                </a:solidFill>
              </a:rPr>
              <a:t>"Meeting reminders: Please review the Q3 corporate reports."</a:t>
            </a:r>
          </a:p>
          <a:p>
            <a:r>
              <a:rPr lang="en-US" sz="2800" b="1" dirty="0"/>
              <a:t>Result</a:t>
            </a:r>
            <a:r>
              <a:rPr lang="en-US" sz="2800" dirty="0"/>
              <a:t>: Whitelisted correctly. The system preserves daily business operations without triggering disruptive false alarms for employees.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3200" dirty="0"/>
              <a:t>Test Case B - Polite Camouflaged Attack</a:t>
            </a:r>
          </a:p>
          <a:p>
            <a:r>
              <a:rPr lang="en-US" sz="2800" i="1" dirty="0">
                <a:solidFill>
                  <a:schemeClr val="bg1">
                    <a:lumMod val="50000"/>
                  </a:schemeClr>
                </a:solidFill>
              </a:rPr>
              <a:t>"Urgent: Click the link to verify your password."</a:t>
            </a:r>
          </a:p>
          <a:p>
            <a:r>
              <a:rPr lang="en-US" sz="2800" b="1" dirty="0"/>
              <a:t>Analysis</a:t>
            </a:r>
            <a:r>
              <a:rPr lang="en-US" sz="2800" dirty="0"/>
              <a:t>: A keyword matching filter would fail here due to standard enterprise vocabulary. The model intercepted the attack by recognizing the semantic conflict between a formal tone and an abrupt credential verification request. The tighter 55% confidence score highlights the necessity</a:t>
            </a:r>
          </a:p>
          <a:p>
            <a:r>
              <a:rPr lang="en-US" sz="2800" dirty="0"/>
              <a:t>of ML for fine boundary detection over static security rules.</a:t>
            </a:r>
          </a:p>
        </p:txBody>
      </p:sp>
      <p:sp>
        <p:nvSpPr>
          <p:cNvPr id="33" name="תיבת טקסט 32">
            <a:extLst>
              <a:ext uri="{FF2B5EF4-FFF2-40B4-BE49-F238E27FC236}">
                <a16:creationId xmlns:a16="http://schemas.microsoft.com/office/drawing/2014/main" id="{003A0F6B-CAAD-3792-0CA3-8F10B186D946}"/>
              </a:ext>
            </a:extLst>
          </p:cNvPr>
          <p:cNvSpPr txBox="1"/>
          <p:nvPr/>
        </p:nvSpPr>
        <p:spPr>
          <a:xfrm>
            <a:off x="18114730" y="24349126"/>
            <a:ext cx="519457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SAFE (Confidence: 95.00%)</a:t>
            </a:r>
            <a:endParaRPr lang="he-IL" sz="3200" dirty="0">
              <a:solidFill>
                <a:schemeClr val="accent6"/>
              </a:solidFill>
            </a:endParaRPr>
          </a:p>
        </p:txBody>
      </p:sp>
      <p:sp>
        <p:nvSpPr>
          <p:cNvPr id="43" name="תיבת טקסט 42">
            <a:extLst>
              <a:ext uri="{FF2B5EF4-FFF2-40B4-BE49-F238E27FC236}">
                <a16:creationId xmlns:a16="http://schemas.microsoft.com/office/drawing/2014/main" id="{D9B7081B-C00A-7B67-45DE-C8154F2F3EA4}"/>
              </a:ext>
            </a:extLst>
          </p:cNvPr>
          <p:cNvSpPr txBox="1"/>
          <p:nvPr/>
        </p:nvSpPr>
        <p:spPr>
          <a:xfrm>
            <a:off x="15954897" y="26618512"/>
            <a:ext cx="737356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PHISHING ALERT (Confidence: 55.00%)</a:t>
            </a:r>
            <a:endParaRPr lang="he-IL" sz="4800" dirty="0">
              <a:solidFill>
                <a:srgbClr val="FF0000"/>
              </a:solidFill>
            </a:endParaRPr>
          </a:p>
        </p:txBody>
      </p:sp>
      <p:sp>
        <p:nvSpPr>
          <p:cNvPr id="53" name="מלבן: פינות מעוגלות 52">
            <a:extLst>
              <a:ext uri="{FF2B5EF4-FFF2-40B4-BE49-F238E27FC236}">
                <a16:creationId xmlns:a16="http://schemas.microsoft.com/office/drawing/2014/main" id="{450F0766-6CB9-A9DF-041F-62995FEB3571}"/>
              </a:ext>
            </a:extLst>
          </p:cNvPr>
          <p:cNvSpPr/>
          <p:nvPr/>
        </p:nvSpPr>
        <p:spPr>
          <a:xfrm>
            <a:off x="711200" y="29973681"/>
            <a:ext cx="11607800" cy="5565201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4" name="תיבת טקסט 53">
            <a:extLst>
              <a:ext uri="{FF2B5EF4-FFF2-40B4-BE49-F238E27FC236}">
                <a16:creationId xmlns:a16="http://schemas.microsoft.com/office/drawing/2014/main" id="{D66D795C-D7D1-ED73-8CAD-A308804CC1C3}"/>
              </a:ext>
            </a:extLst>
          </p:cNvPr>
          <p:cNvSpPr txBox="1"/>
          <p:nvPr/>
        </p:nvSpPr>
        <p:spPr>
          <a:xfrm>
            <a:off x="1307687" y="30116421"/>
            <a:ext cx="10644908" cy="569386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5200" b="1" u="sng" dirty="0">
                <a:solidFill>
                  <a:schemeClr val="accent1"/>
                </a:solidFill>
              </a:rPr>
              <a:t>Conclusion &amp; Future Roadmap</a:t>
            </a:r>
          </a:p>
          <a:p>
            <a:r>
              <a:rPr lang="en-US" sz="2800" dirty="0"/>
              <a:t>The developed MVP successfully proves that statistical text classification can negate advanced semantic camouflage vectors at scale with minimal operational overhead.</a:t>
            </a:r>
          </a:p>
          <a:p>
            <a:endParaRPr lang="en-US" sz="2800" b="1" dirty="0"/>
          </a:p>
          <a:p>
            <a:r>
              <a:rPr lang="en-US" sz="2800" b="1" dirty="0"/>
              <a:t>Next Research Phases: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/>
              <a:t>Enhancing preprocessing filters to completely strip metadata artifacts (such as historic email archive headers and dates).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/>
              <a:t>Evaluating defensive system robustness against complex adversarial phishing templates dynamically generated by Large Language Models (LLMs).</a:t>
            </a:r>
            <a:endParaRPr lang="en-US" sz="3200" dirty="0"/>
          </a:p>
          <a:p>
            <a:endParaRPr lang="en-US" sz="3200" dirty="0"/>
          </a:p>
        </p:txBody>
      </p:sp>
      <p:sp>
        <p:nvSpPr>
          <p:cNvPr id="57" name="תיבת טקסט 56">
            <a:extLst>
              <a:ext uri="{FF2B5EF4-FFF2-40B4-BE49-F238E27FC236}">
                <a16:creationId xmlns:a16="http://schemas.microsoft.com/office/drawing/2014/main" id="{415FE340-99D8-9B79-2954-FA3B17A809C8}"/>
              </a:ext>
            </a:extLst>
          </p:cNvPr>
          <p:cNvSpPr txBox="1"/>
          <p:nvPr/>
        </p:nvSpPr>
        <p:spPr>
          <a:xfrm>
            <a:off x="13289060" y="15972151"/>
            <a:ext cx="4998939" cy="196977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5400" b="1" dirty="0">
                <a:solidFill>
                  <a:schemeClr val="accent6"/>
                </a:solidFill>
              </a:rPr>
              <a:t>99%</a:t>
            </a:r>
          </a:p>
          <a:p>
            <a:pPr algn="ctr"/>
            <a:r>
              <a:rPr lang="en-US" sz="2800" dirty="0"/>
              <a:t>Overall Macro Accuracy</a:t>
            </a:r>
          </a:p>
          <a:p>
            <a:pPr algn="ctr"/>
            <a:endParaRPr lang="he-IL" sz="4000" dirty="0"/>
          </a:p>
        </p:txBody>
      </p:sp>
      <p:sp>
        <p:nvSpPr>
          <p:cNvPr id="59" name="תיבת טקסט 58">
            <a:extLst>
              <a:ext uri="{FF2B5EF4-FFF2-40B4-BE49-F238E27FC236}">
                <a16:creationId xmlns:a16="http://schemas.microsoft.com/office/drawing/2014/main" id="{BD5D659A-C46E-C243-4296-DA0D374D2599}"/>
              </a:ext>
            </a:extLst>
          </p:cNvPr>
          <p:cNvSpPr txBox="1"/>
          <p:nvPr/>
        </p:nvSpPr>
        <p:spPr>
          <a:xfrm>
            <a:off x="18668999" y="15992139"/>
            <a:ext cx="4998939" cy="196977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1.00</a:t>
            </a:r>
          </a:p>
          <a:p>
            <a:pPr algn="ctr"/>
            <a:r>
              <a:rPr lang="en-US" sz="2800" dirty="0"/>
              <a:t>ROC AUC Score</a:t>
            </a:r>
          </a:p>
          <a:p>
            <a:pPr algn="ctr"/>
            <a:endParaRPr lang="he-IL" sz="4000" dirty="0"/>
          </a:p>
        </p:txBody>
      </p:sp>
      <p:sp>
        <p:nvSpPr>
          <p:cNvPr id="61" name="AutoShape 14">
            <a:extLst>
              <a:ext uri="{FF2B5EF4-FFF2-40B4-BE49-F238E27FC236}">
                <a16:creationId xmlns:a16="http://schemas.microsoft.com/office/drawing/2014/main" id="{35EBB28A-BE3E-2EB3-64D1-EE053E5F28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447588" y="17846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63" name="תמונה 62">
            <a:extLst>
              <a:ext uri="{FF2B5EF4-FFF2-40B4-BE49-F238E27FC236}">
                <a16:creationId xmlns:a16="http://schemas.microsoft.com/office/drawing/2014/main" id="{A67B738E-62F4-E467-5F08-5BADFF903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2388" y="30734094"/>
            <a:ext cx="12169876" cy="360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30681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ערכת נושא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2632</TotalTime>
  <Words>508</Words>
  <Application>Microsoft Office PowerPoint</Application>
  <PresentationFormat>מותאם אישית</PresentationFormat>
  <Paragraphs>64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Mitzmacher</dc:creator>
  <cp:lastModifiedBy>Amit Mitzmacher</cp:lastModifiedBy>
  <cp:revision>5</cp:revision>
  <dcterms:created xsi:type="dcterms:W3CDTF">2026-05-25T14:38:17Z</dcterms:created>
  <dcterms:modified xsi:type="dcterms:W3CDTF">2026-05-27T10:32:32Z</dcterms:modified>
</cp:coreProperties>
</file>